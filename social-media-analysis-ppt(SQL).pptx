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nton" charset="1" panose="00000500000000000000"/>
      <p:regular r:id="rId17"/>
    </p:embeddedFont>
    <p:embeddedFont>
      <p:font typeface="Montserrat Bold" charset="1" panose="00000800000000000000"/>
      <p:regular r:id="rId18"/>
    </p:embeddedFont>
    <p:embeddedFont>
      <p:font typeface="Rowdies" charset="1" panose="00000000000000000000"/>
      <p:regular r:id="rId19"/>
    </p:embeddedFont>
    <p:embeddedFont>
      <p:font typeface="Open Sans" charset="1" panose="00000000000000000000"/>
      <p:regular r:id="rId20"/>
    </p:embeddedFont>
    <p:embeddedFont>
      <p:font typeface="Squada One" charset="1" panose="02000000000000000000"/>
      <p:regular r:id="rId21"/>
    </p:embeddedFont>
    <p:embeddedFont>
      <p:font typeface="Open Sans Bold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jpe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2" Target="../media/image34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57611" y="-1286368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3479" y="690861"/>
            <a:ext cx="1191540" cy="1191540"/>
          </a:xfrm>
          <a:custGeom>
            <a:avLst/>
            <a:gdLst/>
            <a:ahLst/>
            <a:cxnLst/>
            <a:rect r="r" b="b" t="t" l="l"/>
            <a:pathLst>
              <a:path h="1191540" w="1191540">
                <a:moveTo>
                  <a:pt x="0" y="0"/>
                </a:moveTo>
                <a:lnTo>
                  <a:pt x="1191540" y="0"/>
                </a:lnTo>
                <a:lnTo>
                  <a:pt x="1191540" y="1191540"/>
                </a:lnTo>
                <a:lnTo>
                  <a:pt x="0" y="11915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41813" y="8802151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41813" y="8440825"/>
            <a:ext cx="1191540" cy="1191540"/>
          </a:xfrm>
          <a:custGeom>
            <a:avLst/>
            <a:gdLst/>
            <a:ahLst/>
            <a:cxnLst/>
            <a:rect r="r" b="b" t="t" l="l"/>
            <a:pathLst>
              <a:path h="1191540" w="1191540">
                <a:moveTo>
                  <a:pt x="0" y="0"/>
                </a:moveTo>
                <a:lnTo>
                  <a:pt x="1191540" y="0"/>
                </a:lnTo>
                <a:lnTo>
                  <a:pt x="1191540" y="1191540"/>
                </a:lnTo>
                <a:lnTo>
                  <a:pt x="0" y="11915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28916" y="9058516"/>
            <a:ext cx="399568" cy="399568"/>
          </a:xfrm>
          <a:custGeom>
            <a:avLst/>
            <a:gdLst/>
            <a:ahLst/>
            <a:cxnLst/>
            <a:rect r="r" b="b" t="t" l="l"/>
            <a:pathLst>
              <a:path h="399568" w="399568">
                <a:moveTo>
                  <a:pt x="0" y="0"/>
                </a:moveTo>
                <a:lnTo>
                  <a:pt x="399568" y="0"/>
                </a:lnTo>
                <a:lnTo>
                  <a:pt x="399568" y="399568"/>
                </a:lnTo>
                <a:lnTo>
                  <a:pt x="0" y="3995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41813" y="1882401"/>
            <a:ext cx="712885" cy="712885"/>
          </a:xfrm>
          <a:custGeom>
            <a:avLst/>
            <a:gdLst/>
            <a:ahLst/>
            <a:cxnLst/>
            <a:rect r="r" b="b" t="t" l="l"/>
            <a:pathLst>
              <a:path h="712885" w="712885">
                <a:moveTo>
                  <a:pt x="0" y="0"/>
                </a:moveTo>
                <a:lnTo>
                  <a:pt x="712885" y="0"/>
                </a:lnTo>
                <a:lnTo>
                  <a:pt x="712885" y="712885"/>
                </a:lnTo>
                <a:lnTo>
                  <a:pt x="0" y="712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252728" y="170286"/>
            <a:ext cx="3438827" cy="823642"/>
          </a:xfrm>
          <a:custGeom>
            <a:avLst/>
            <a:gdLst/>
            <a:ahLst/>
            <a:cxnLst/>
            <a:rect r="r" b="b" t="t" l="l"/>
            <a:pathLst>
              <a:path h="823642" w="3438827">
                <a:moveTo>
                  <a:pt x="0" y="0"/>
                </a:moveTo>
                <a:lnTo>
                  <a:pt x="3438827" y="0"/>
                </a:lnTo>
                <a:lnTo>
                  <a:pt x="3438827" y="823642"/>
                </a:lnTo>
                <a:lnTo>
                  <a:pt x="0" y="8236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02627" y="311370"/>
            <a:ext cx="1189547" cy="1189547"/>
          </a:xfrm>
          <a:custGeom>
            <a:avLst/>
            <a:gdLst/>
            <a:ahLst/>
            <a:cxnLst/>
            <a:rect r="r" b="b" t="t" l="l"/>
            <a:pathLst>
              <a:path h="1189547" w="1189547">
                <a:moveTo>
                  <a:pt x="0" y="0"/>
                </a:moveTo>
                <a:lnTo>
                  <a:pt x="1189547" y="0"/>
                </a:lnTo>
                <a:lnTo>
                  <a:pt x="1189547" y="1189547"/>
                </a:lnTo>
                <a:lnTo>
                  <a:pt x="0" y="11895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 descr="Logo"/>
          <p:cNvSpPr/>
          <p:nvPr/>
        </p:nvSpPr>
        <p:spPr>
          <a:xfrm flipH="false" flipV="false" rot="0">
            <a:off x="12485932" y="8891273"/>
            <a:ext cx="1888636" cy="458067"/>
          </a:xfrm>
          <a:custGeom>
            <a:avLst/>
            <a:gdLst/>
            <a:ahLst/>
            <a:cxnLst/>
            <a:rect r="r" b="b" t="t" l="l"/>
            <a:pathLst>
              <a:path h="458067" w="1888636">
                <a:moveTo>
                  <a:pt x="0" y="0"/>
                </a:moveTo>
                <a:lnTo>
                  <a:pt x="1888636" y="0"/>
                </a:lnTo>
                <a:lnTo>
                  <a:pt x="1888636" y="458067"/>
                </a:lnTo>
                <a:lnTo>
                  <a:pt x="0" y="4580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761" r="0" b="-761"/>
            </a:stretch>
          </a:blipFill>
        </p:spPr>
      </p:sp>
      <p:sp>
        <p:nvSpPr>
          <p:cNvPr name="Freeform 11" id="11" descr="Symbol"/>
          <p:cNvSpPr/>
          <p:nvPr/>
        </p:nvSpPr>
        <p:spPr>
          <a:xfrm flipH="false" flipV="false" rot="0">
            <a:off x="14744729" y="8853173"/>
            <a:ext cx="671551" cy="657854"/>
          </a:xfrm>
          <a:custGeom>
            <a:avLst/>
            <a:gdLst/>
            <a:ahLst/>
            <a:cxnLst/>
            <a:rect r="r" b="b" t="t" l="l"/>
            <a:pathLst>
              <a:path h="657854" w="671551">
                <a:moveTo>
                  <a:pt x="0" y="0"/>
                </a:moveTo>
                <a:lnTo>
                  <a:pt x="671550" y="0"/>
                </a:lnTo>
                <a:lnTo>
                  <a:pt x="671550" y="657854"/>
                </a:lnTo>
                <a:lnTo>
                  <a:pt x="0" y="65785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322" r="0" b="-321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22559" y="3562579"/>
            <a:ext cx="15989579" cy="436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2"/>
              </a:lnSpc>
            </a:pPr>
            <a:r>
              <a:rPr lang="en-US" sz="14260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SOCIAL MEDIA DATA ANALYSIS USING SQL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628222" y="1812431"/>
            <a:ext cx="7045190" cy="1405737"/>
          </a:xfrm>
          <a:custGeom>
            <a:avLst/>
            <a:gdLst/>
            <a:ahLst/>
            <a:cxnLst/>
            <a:rect r="r" b="b" t="t" l="l"/>
            <a:pathLst>
              <a:path h="1405737" w="7045190">
                <a:moveTo>
                  <a:pt x="0" y="0"/>
                </a:moveTo>
                <a:lnTo>
                  <a:pt x="7045190" y="0"/>
                </a:lnTo>
                <a:lnTo>
                  <a:pt x="7045190" y="1405737"/>
                </a:lnTo>
                <a:lnTo>
                  <a:pt x="0" y="140573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600533" y="1882397"/>
            <a:ext cx="1543241" cy="1543241"/>
            <a:chOff x="0" y="0"/>
            <a:chExt cx="2057654" cy="20576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57654" cy="2057654"/>
            </a:xfrm>
            <a:custGeom>
              <a:avLst/>
              <a:gdLst/>
              <a:ahLst/>
              <a:cxnLst/>
              <a:rect r="r" b="b" t="t" l="l"/>
              <a:pathLst>
                <a:path h="2057654" w="2057654">
                  <a:moveTo>
                    <a:pt x="1028827" y="0"/>
                  </a:moveTo>
                  <a:cubicBezTo>
                    <a:pt x="460629" y="0"/>
                    <a:pt x="0" y="460629"/>
                    <a:pt x="0" y="1028827"/>
                  </a:cubicBezTo>
                  <a:cubicBezTo>
                    <a:pt x="0" y="1597025"/>
                    <a:pt x="460629" y="2057654"/>
                    <a:pt x="1028827" y="2057654"/>
                  </a:cubicBezTo>
                  <a:cubicBezTo>
                    <a:pt x="1597025" y="2057654"/>
                    <a:pt x="2057654" y="1597025"/>
                    <a:pt x="2057654" y="1028827"/>
                  </a:cubicBezTo>
                  <a:cubicBezTo>
                    <a:pt x="2057654" y="460629"/>
                    <a:pt x="1597025" y="0"/>
                    <a:pt x="1028827" y="0"/>
                  </a:cubicBez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10678" y="7715479"/>
            <a:ext cx="13322170" cy="53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351" indent="-220784" lvl="2">
              <a:lnSpc>
                <a:spcPts val="4056"/>
              </a:lnSpc>
              <a:buFont typeface="Arial"/>
              <a:buChar char="⚬"/>
            </a:pPr>
            <a:r>
              <a:rPr lang="en-US" b="true" sz="2897" spc="18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Case Study on Engagement, Tags, and User Behaviour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15431" y="2263550"/>
            <a:ext cx="6228569" cy="638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5"/>
              </a:lnSpc>
            </a:pPr>
            <a:r>
              <a:rPr lang="en-US" sz="3753">
                <a:solidFill>
                  <a:srgbClr val="FFFFFF"/>
                </a:solidFill>
                <a:latin typeface="Rowdies"/>
                <a:ea typeface="Rowdies"/>
                <a:cs typeface="Rowdies"/>
                <a:sym typeface="Rowdies"/>
              </a:rPr>
              <a:t>Presented By JoyPaul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22949" y="8925787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37583" y="1599948"/>
            <a:ext cx="399568" cy="399568"/>
          </a:xfrm>
          <a:custGeom>
            <a:avLst/>
            <a:gdLst/>
            <a:ahLst/>
            <a:cxnLst/>
            <a:rect r="r" b="b" t="t" l="l"/>
            <a:pathLst>
              <a:path h="399568" w="399568">
                <a:moveTo>
                  <a:pt x="0" y="0"/>
                </a:moveTo>
                <a:lnTo>
                  <a:pt x="399568" y="0"/>
                </a:lnTo>
                <a:lnTo>
                  <a:pt x="399568" y="399568"/>
                </a:lnTo>
                <a:lnTo>
                  <a:pt x="0" y="399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56625" y="4611512"/>
            <a:ext cx="389240" cy="389240"/>
          </a:xfrm>
          <a:custGeom>
            <a:avLst/>
            <a:gdLst/>
            <a:ahLst/>
            <a:cxnLst/>
            <a:rect r="r" b="b" t="t" l="l"/>
            <a:pathLst>
              <a:path h="389240" w="389240">
                <a:moveTo>
                  <a:pt x="0" y="0"/>
                </a:moveTo>
                <a:lnTo>
                  <a:pt x="389240" y="0"/>
                </a:lnTo>
                <a:lnTo>
                  <a:pt x="389240" y="389240"/>
                </a:lnTo>
                <a:lnTo>
                  <a:pt x="0" y="3892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56622" y="1439685"/>
            <a:ext cx="14237960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IMPORTANCE OF SOCIAL MEDIA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52392" y="4538682"/>
            <a:ext cx="4825022" cy="46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b="true" sz="2433" spc="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Better Decision Making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56622" y="5090112"/>
            <a:ext cx="6986397" cy="2225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7201" indent="-152400" lvl="2">
              <a:lnSpc>
                <a:spcPts val="3400"/>
              </a:lnSpc>
              <a:buFont typeface="Arial"/>
              <a:buChar char="⚬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Businesses gain data-driven insights into what content works, what users prefer, and how they behave.</a:t>
            </a:r>
          </a:p>
          <a:p>
            <a:pPr algn="l" marL="457201" indent="-152400" lvl="2">
              <a:lnSpc>
                <a:spcPts val="3400"/>
              </a:lnSpc>
              <a:buFont typeface="Arial"/>
              <a:buChar char="⚬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Enables smarter choices in marketing, product updates, and feature prioritisation</a:t>
            </a:r>
          </a:p>
          <a:p>
            <a:pPr algn="l" marL="457201" indent="-152400" lvl="2">
              <a:lnSpc>
                <a:spcPts val="340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851283" y="4611512"/>
            <a:ext cx="389240" cy="389240"/>
          </a:xfrm>
          <a:custGeom>
            <a:avLst/>
            <a:gdLst/>
            <a:ahLst/>
            <a:cxnLst/>
            <a:rect r="r" b="b" t="t" l="l"/>
            <a:pathLst>
              <a:path h="389240" w="389240">
                <a:moveTo>
                  <a:pt x="0" y="0"/>
                </a:moveTo>
                <a:lnTo>
                  <a:pt x="389240" y="0"/>
                </a:lnTo>
                <a:lnTo>
                  <a:pt x="389240" y="389240"/>
                </a:lnTo>
                <a:lnTo>
                  <a:pt x="0" y="3892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447049" y="4538682"/>
            <a:ext cx="7840951" cy="46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b="true" sz="2433" spc="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Improved Targeting &amp; Personalization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51279" y="5090112"/>
            <a:ext cx="6986397" cy="1797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7201" indent="-152400" lvl="2">
              <a:lnSpc>
                <a:spcPts val="3400"/>
              </a:lnSpc>
              <a:buFont typeface="Arial"/>
              <a:buChar char="⚬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Segments users by age, interests, or activity level.</a:t>
            </a:r>
          </a:p>
          <a:p>
            <a:pPr algn="l" marL="457201" indent="-152400" lvl="2">
              <a:lnSpc>
                <a:spcPts val="3400"/>
              </a:lnSpc>
              <a:buFont typeface="Arial"/>
              <a:buChar char="⚬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Helps deliver personalized ads, content, and offers, increasing click-through</a:t>
            </a:r>
          </a:p>
          <a:p>
            <a:pPr algn="l" marL="457201" indent="-152400" lvl="2">
              <a:lnSpc>
                <a:spcPts val="340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156625" y="7115766"/>
            <a:ext cx="389240" cy="389240"/>
          </a:xfrm>
          <a:custGeom>
            <a:avLst/>
            <a:gdLst/>
            <a:ahLst/>
            <a:cxnLst/>
            <a:rect r="r" b="b" t="t" l="l"/>
            <a:pathLst>
              <a:path h="389240" w="389240">
                <a:moveTo>
                  <a:pt x="0" y="0"/>
                </a:moveTo>
                <a:lnTo>
                  <a:pt x="389240" y="0"/>
                </a:lnTo>
                <a:lnTo>
                  <a:pt x="389240" y="389240"/>
                </a:lnTo>
                <a:lnTo>
                  <a:pt x="0" y="3892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52392" y="7042937"/>
            <a:ext cx="4825022" cy="46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b="true" sz="2433" spc="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Competitive Advantage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56622" y="7594368"/>
            <a:ext cx="6986397" cy="1797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7201" indent="-152400" lvl="2">
              <a:lnSpc>
                <a:spcPts val="3400"/>
              </a:lnSpc>
              <a:buFont typeface="Arial"/>
              <a:buChar char="⚬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Identify market trends before competitors.</a:t>
            </a:r>
          </a:p>
          <a:p>
            <a:pPr algn="l" marL="457201" indent="-152400" lvl="2">
              <a:lnSpc>
                <a:spcPts val="3400"/>
              </a:lnSpc>
              <a:buFont typeface="Arial"/>
              <a:buChar char="⚬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Understand what users like elsewhere and build features that attract them</a:t>
            </a:r>
          </a:p>
          <a:p>
            <a:pPr algn="l" marL="457201" indent="-152400" lvl="2">
              <a:lnSpc>
                <a:spcPts val="3400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851283" y="7115766"/>
            <a:ext cx="389240" cy="389240"/>
          </a:xfrm>
          <a:custGeom>
            <a:avLst/>
            <a:gdLst/>
            <a:ahLst/>
            <a:cxnLst/>
            <a:rect r="r" b="b" t="t" l="l"/>
            <a:pathLst>
              <a:path h="389240" w="389240">
                <a:moveTo>
                  <a:pt x="0" y="0"/>
                </a:moveTo>
                <a:lnTo>
                  <a:pt x="389240" y="0"/>
                </a:lnTo>
                <a:lnTo>
                  <a:pt x="389240" y="389240"/>
                </a:lnTo>
                <a:lnTo>
                  <a:pt x="0" y="3892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447049" y="7042937"/>
            <a:ext cx="5775893" cy="46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b="true" sz="2433" spc="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Monitors Brand Sentiment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51279" y="7594368"/>
            <a:ext cx="6986397" cy="1797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7201" indent="-152400" lvl="2">
              <a:lnSpc>
                <a:spcPts val="3400"/>
              </a:lnSpc>
              <a:buFont typeface="Arial"/>
              <a:buChar char="⚬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Analyzes comments and tags to detect positive or negative feedback.</a:t>
            </a:r>
          </a:p>
          <a:p>
            <a:pPr algn="l" marL="457201" indent="-152400" lvl="2">
              <a:lnSpc>
                <a:spcPts val="3400"/>
              </a:lnSpc>
              <a:buFont typeface="Arial"/>
              <a:buChar char="⚬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Businesses can act early on customer dissatisfaction</a:t>
            </a:r>
          </a:p>
          <a:p>
            <a:pPr algn="l" marL="457201" indent="-152400" lvl="2">
              <a:lnSpc>
                <a:spcPts val="3400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-1357611" y="-1286368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43479" y="690861"/>
            <a:ext cx="1191540" cy="1191540"/>
          </a:xfrm>
          <a:custGeom>
            <a:avLst/>
            <a:gdLst/>
            <a:ahLst/>
            <a:cxnLst/>
            <a:rect r="r" b="b" t="t" l="l"/>
            <a:pathLst>
              <a:path h="1191540" w="1191540">
                <a:moveTo>
                  <a:pt x="0" y="0"/>
                </a:moveTo>
                <a:lnTo>
                  <a:pt x="1191540" y="0"/>
                </a:lnTo>
                <a:lnTo>
                  <a:pt x="1191540" y="1191540"/>
                </a:lnTo>
                <a:lnTo>
                  <a:pt x="0" y="11915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57611" y="-1286368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3479" y="690861"/>
            <a:ext cx="1191540" cy="1191540"/>
          </a:xfrm>
          <a:custGeom>
            <a:avLst/>
            <a:gdLst/>
            <a:ahLst/>
            <a:cxnLst/>
            <a:rect r="r" b="b" t="t" l="l"/>
            <a:pathLst>
              <a:path h="1191540" w="1191540">
                <a:moveTo>
                  <a:pt x="0" y="0"/>
                </a:moveTo>
                <a:lnTo>
                  <a:pt x="1191540" y="0"/>
                </a:lnTo>
                <a:lnTo>
                  <a:pt x="1191540" y="1191540"/>
                </a:lnTo>
                <a:lnTo>
                  <a:pt x="0" y="11915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94039" y="-2361534"/>
            <a:ext cx="8995287" cy="8995287"/>
          </a:xfrm>
          <a:custGeom>
            <a:avLst/>
            <a:gdLst/>
            <a:ahLst/>
            <a:cxnLst/>
            <a:rect r="r" b="b" t="t" l="l"/>
            <a:pathLst>
              <a:path h="8995287" w="8995287">
                <a:moveTo>
                  <a:pt x="0" y="0"/>
                </a:moveTo>
                <a:lnTo>
                  <a:pt x="8995287" y="0"/>
                </a:lnTo>
                <a:lnTo>
                  <a:pt x="8995287" y="8995287"/>
                </a:lnTo>
                <a:lnTo>
                  <a:pt x="0" y="89952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95131" y="9475265"/>
            <a:ext cx="1038609" cy="1038609"/>
          </a:xfrm>
          <a:custGeom>
            <a:avLst/>
            <a:gdLst/>
            <a:ahLst/>
            <a:cxnLst/>
            <a:rect r="r" b="b" t="t" l="l"/>
            <a:pathLst>
              <a:path h="1038609" w="1038609">
                <a:moveTo>
                  <a:pt x="0" y="0"/>
                </a:moveTo>
                <a:lnTo>
                  <a:pt x="1038609" y="0"/>
                </a:lnTo>
                <a:lnTo>
                  <a:pt x="1038609" y="1038609"/>
                </a:lnTo>
                <a:lnTo>
                  <a:pt x="0" y="10386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44512" y="625097"/>
            <a:ext cx="7550772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55"/>
              </a:lnSpc>
            </a:pPr>
            <a:r>
              <a:rPr lang="en-US" sz="82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DATA DESCRIPTION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9253" y="2121684"/>
            <a:ext cx="6286005" cy="164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users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 – INT, Primary Key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username – VARCHAR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created_at – TIMESTAMP (default NOW())</a:t>
            </a:r>
          </a:p>
          <a:p>
            <a:pPr algn="l" marL="419041" indent="-139680" lvl="2">
              <a:lnSpc>
                <a:spcPts val="2565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02111" y="2273344"/>
            <a:ext cx="227613" cy="227613"/>
          </a:xfrm>
          <a:custGeom>
            <a:avLst/>
            <a:gdLst/>
            <a:ahLst/>
            <a:cxnLst/>
            <a:rect r="r" b="b" t="t" l="l"/>
            <a:pathLst>
              <a:path h="227613" w="227613">
                <a:moveTo>
                  <a:pt x="0" y="0"/>
                </a:moveTo>
                <a:lnTo>
                  <a:pt x="227613" y="0"/>
                </a:lnTo>
                <a:lnTo>
                  <a:pt x="227613" y="227613"/>
                </a:lnTo>
                <a:lnTo>
                  <a:pt x="0" y="2276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656482" y="2149516"/>
            <a:ext cx="9307582" cy="197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photos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 – INT, Primary Key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image_url – VARCHAR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user_id – INT (Foreign Key → users.id)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created_dat – TIMESTAMP </a:t>
            </a:r>
          </a:p>
          <a:p>
            <a:pPr algn="l" marL="419041" indent="-139680" lvl="2">
              <a:lnSpc>
                <a:spcPts val="256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39253" y="4009863"/>
            <a:ext cx="7208977" cy="229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comments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 – INT, Primary Key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comment_text – VARCHAR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user_id – INT (Foreign Key → users.id)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photo_id – INT (Foreign Key → photos.id)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created_at – TIMESTAMP</a:t>
            </a:r>
          </a:p>
          <a:p>
            <a:pPr algn="l" marL="419041" indent="-139680" lvl="2">
              <a:lnSpc>
                <a:spcPts val="256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618382" y="5992463"/>
            <a:ext cx="7208977" cy="164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tags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 – INT, Primary Key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tag_name – VARCHAR (UNIQUE)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created_at – TIMESTAMP</a:t>
            </a:r>
          </a:p>
          <a:p>
            <a:pPr algn="l" marL="419041" indent="-139680" lvl="2">
              <a:lnSpc>
                <a:spcPts val="2565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39253" y="6230245"/>
            <a:ext cx="6129919" cy="229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follows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follower_id – INT (Foreign Key → users.id)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followee_id – INT (Foreign Key → users.id)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created_at – TIMESTAMP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Primary Key – Composite (follower_id, followee_id)</a:t>
            </a:r>
          </a:p>
          <a:p>
            <a:pPr algn="l" marL="419041" indent="-139680" lvl="2">
              <a:lnSpc>
                <a:spcPts val="2565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618382" y="4009863"/>
            <a:ext cx="7208977" cy="197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likes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user_id – INT (Foreign Key → users.id)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photo_id – INT (Foreign Key → photos.id)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created_at – TIMESTAMP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Primary Key – Composite (user_id, photo_id)</a:t>
            </a:r>
          </a:p>
          <a:p>
            <a:pPr algn="l" marL="419041" indent="-139680" lvl="2">
              <a:lnSpc>
                <a:spcPts val="2565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8548230" y="7609408"/>
            <a:ext cx="7208977" cy="164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photo_tags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photo_id – INT (Foreign Key → photos.id)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tag_id – INT (Foreign Key → tags.id)</a:t>
            </a:r>
          </a:p>
          <a:p>
            <a:pPr algn="l" marL="419041" indent="-139680" lvl="2">
              <a:lnSpc>
                <a:spcPts val="2565"/>
              </a:lnSpc>
              <a:buFont typeface="Arial"/>
              <a:buChar char="⚬"/>
            </a:pPr>
            <a:r>
              <a:rPr lang="en-US" b="true" sz="1833" spc="1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Primary Key – Composite (photo_id, tag_id)</a:t>
            </a:r>
          </a:p>
          <a:p>
            <a:pPr algn="l" marL="419041" indent="-139680" lvl="2">
              <a:lnSpc>
                <a:spcPts val="2565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02111" y="4122257"/>
            <a:ext cx="227613" cy="227613"/>
          </a:xfrm>
          <a:custGeom>
            <a:avLst/>
            <a:gdLst/>
            <a:ahLst/>
            <a:cxnLst/>
            <a:rect r="r" b="b" t="t" l="l"/>
            <a:pathLst>
              <a:path h="227613" w="227613">
                <a:moveTo>
                  <a:pt x="0" y="0"/>
                </a:moveTo>
                <a:lnTo>
                  <a:pt x="227613" y="0"/>
                </a:lnTo>
                <a:lnTo>
                  <a:pt x="227613" y="227613"/>
                </a:lnTo>
                <a:lnTo>
                  <a:pt x="0" y="2276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263961" y="6125969"/>
            <a:ext cx="227613" cy="227613"/>
          </a:xfrm>
          <a:custGeom>
            <a:avLst/>
            <a:gdLst/>
            <a:ahLst/>
            <a:cxnLst/>
            <a:rect r="r" b="b" t="t" l="l"/>
            <a:pathLst>
              <a:path h="227613" w="227613">
                <a:moveTo>
                  <a:pt x="0" y="0"/>
                </a:moveTo>
                <a:lnTo>
                  <a:pt x="227613" y="0"/>
                </a:lnTo>
                <a:lnTo>
                  <a:pt x="227613" y="227613"/>
                </a:lnTo>
                <a:lnTo>
                  <a:pt x="0" y="2276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16880" y="6325500"/>
            <a:ext cx="227613" cy="227613"/>
          </a:xfrm>
          <a:custGeom>
            <a:avLst/>
            <a:gdLst/>
            <a:ahLst/>
            <a:cxnLst/>
            <a:rect r="r" b="b" t="t" l="l"/>
            <a:pathLst>
              <a:path h="227613" w="227613">
                <a:moveTo>
                  <a:pt x="0" y="0"/>
                </a:moveTo>
                <a:lnTo>
                  <a:pt x="227613" y="0"/>
                </a:lnTo>
                <a:lnTo>
                  <a:pt x="227613" y="227613"/>
                </a:lnTo>
                <a:lnTo>
                  <a:pt x="0" y="2276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320617" y="4122257"/>
            <a:ext cx="227613" cy="227613"/>
          </a:xfrm>
          <a:custGeom>
            <a:avLst/>
            <a:gdLst/>
            <a:ahLst/>
            <a:cxnLst/>
            <a:rect r="r" b="b" t="t" l="l"/>
            <a:pathLst>
              <a:path h="227613" w="227613">
                <a:moveTo>
                  <a:pt x="0" y="0"/>
                </a:moveTo>
                <a:lnTo>
                  <a:pt x="227613" y="0"/>
                </a:lnTo>
                <a:lnTo>
                  <a:pt x="227613" y="227613"/>
                </a:lnTo>
                <a:lnTo>
                  <a:pt x="0" y="2276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320617" y="2273344"/>
            <a:ext cx="227613" cy="227613"/>
          </a:xfrm>
          <a:custGeom>
            <a:avLst/>
            <a:gdLst/>
            <a:ahLst/>
            <a:cxnLst/>
            <a:rect r="r" b="b" t="t" l="l"/>
            <a:pathLst>
              <a:path h="227613" w="227613">
                <a:moveTo>
                  <a:pt x="0" y="0"/>
                </a:moveTo>
                <a:lnTo>
                  <a:pt x="227613" y="0"/>
                </a:lnTo>
                <a:lnTo>
                  <a:pt x="227613" y="227613"/>
                </a:lnTo>
                <a:lnTo>
                  <a:pt x="0" y="2276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254436" y="7723712"/>
            <a:ext cx="227613" cy="227613"/>
          </a:xfrm>
          <a:custGeom>
            <a:avLst/>
            <a:gdLst/>
            <a:ahLst/>
            <a:cxnLst/>
            <a:rect r="r" b="b" t="t" l="l"/>
            <a:pathLst>
              <a:path h="227613" w="227613">
                <a:moveTo>
                  <a:pt x="0" y="0"/>
                </a:moveTo>
                <a:lnTo>
                  <a:pt x="227613" y="0"/>
                </a:lnTo>
                <a:lnTo>
                  <a:pt x="227613" y="227613"/>
                </a:lnTo>
                <a:lnTo>
                  <a:pt x="0" y="2276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645091" y="896560"/>
            <a:ext cx="399816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4"/>
              </a:lnSpc>
            </a:pPr>
            <a:r>
              <a:rPr lang="en-US" sz="4695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SOCIALMEDIADB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22814" y="-3716063"/>
            <a:ext cx="8549194" cy="8549194"/>
          </a:xfrm>
          <a:custGeom>
            <a:avLst/>
            <a:gdLst/>
            <a:ahLst/>
            <a:cxnLst/>
            <a:rect r="r" b="b" t="t" l="l"/>
            <a:pathLst>
              <a:path h="8549194" w="8549194">
                <a:moveTo>
                  <a:pt x="0" y="0"/>
                </a:moveTo>
                <a:lnTo>
                  <a:pt x="8549194" y="0"/>
                </a:lnTo>
                <a:lnTo>
                  <a:pt x="8549194" y="8549194"/>
                </a:lnTo>
                <a:lnTo>
                  <a:pt x="0" y="8549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22949" y="8925787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35857" y="8249031"/>
            <a:ext cx="399568" cy="399568"/>
          </a:xfrm>
          <a:custGeom>
            <a:avLst/>
            <a:gdLst/>
            <a:ahLst/>
            <a:cxnLst/>
            <a:rect r="r" b="b" t="t" l="l"/>
            <a:pathLst>
              <a:path h="399568" w="399568">
                <a:moveTo>
                  <a:pt x="0" y="0"/>
                </a:moveTo>
                <a:lnTo>
                  <a:pt x="399568" y="0"/>
                </a:lnTo>
                <a:lnTo>
                  <a:pt x="399568" y="399568"/>
                </a:lnTo>
                <a:lnTo>
                  <a:pt x="0" y="3995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49333" y="350882"/>
            <a:ext cx="7038632" cy="1448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DATA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13785" y="2966580"/>
            <a:ext cx="6441262" cy="124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 username,created_at from users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order by created_at asc 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 5;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2185" y="2456202"/>
            <a:ext cx="6442862" cy="46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b="true" sz="2433" spc="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Find the 5 oldest user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2185" y="4554464"/>
            <a:ext cx="6442862" cy="46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b="true" sz="2433" spc="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Top 5 Most Popular Tags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12185" y="5268611"/>
            <a:ext cx="6441262" cy="241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 tag_name,count(photo_id) as number_of_time   from tags t join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photo_tags pt on t.id = pt.tag_id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group by tag_name 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order by count(tag_name) desc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 5;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35289" y="8123320"/>
            <a:ext cx="1594495" cy="1346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6"/>
              </a:lnSpc>
            </a:pPr>
            <a:r>
              <a:rPr lang="en-US" sz="5038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SMILE</a:t>
            </a:r>
          </a:p>
          <a:p>
            <a:pPr algn="ctr">
              <a:lnSpc>
                <a:spcPts val="4659"/>
              </a:lnSpc>
            </a:pPr>
            <a:r>
              <a:rPr lang="en-US" sz="38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59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462199" y="4079338"/>
            <a:ext cx="6958898" cy="6623971"/>
          </a:xfrm>
          <a:custGeom>
            <a:avLst/>
            <a:gdLst/>
            <a:ahLst/>
            <a:cxnLst/>
            <a:rect r="r" b="b" t="t" l="l"/>
            <a:pathLst>
              <a:path h="6623971" w="6958898">
                <a:moveTo>
                  <a:pt x="0" y="0"/>
                </a:moveTo>
                <a:lnTo>
                  <a:pt x="6958899" y="0"/>
                </a:lnTo>
                <a:lnTo>
                  <a:pt x="6958899" y="6623971"/>
                </a:lnTo>
                <a:lnTo>
                  <a:pt x="0" y="66239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8" t="0" r="-58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06878" y="8158305"/>
            <a:ext cx="396178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5"/>
              </a:lnSpc>
            </a:pPr>
            <a:r>
              <a:rPr lang="en-US" sz="4196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MOST FREQUENT TAG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38228" y="2341616"/>
            <a:ext cx="4898974" cy="254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DC0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# username,                    created_at</a:t>
            </a:r>
          </a:p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DC0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'Darby_Herzog',              '20 16-05-06'</a:t>
            </a:r>
          </a:p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DC0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'Emilio_Bernier52',            '2016-05-06'</a:t>
            </a:r>
          </a:p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DC0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'Elenor88',                          '2016-05-08 '</a:t>
            </a:r>
          </a:p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DC0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'Nicole71',                            '2016-05-0‘</a:t>
            </a:r>
          </a:p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DC0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'Jordyn.Jacobson2',         '2016-05-14'</a:t>
            </a:r>
          </a:p>
          <a:p>
            <a:pPr algn="ctr">
              <a:lnSpc>
                <a:spcPts val="27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22814" y="-3716063"/>
            <a:ext cx="8549194" cy="8549194"/>
          </a:xfrm>
          <a:custGeom>
            <a:avLst/>
            <a:gdLst/>
            <a:ahLst/>
            <a:cxnLst/>
            <a:rect r="r" b="b" t="t" l="l"/>
            <a:pathLst>
              <a:path h="8549194" w="8549194">
                <a:moveTo>
                  <a:pt x="0" y="0"/>
                </a:moveTo>
                <a:lnTo>
                  <a:pt x="8549194" y="0"/>
                </a:lnTo>
                <a:lnTo>
                  <a:pt x="8549194" y="8549194"/>
                </a:lnTo>
                <a:lnTo>
                  <a:pt x="0" y="8549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22949" y="8925787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37583" y="1599948"/>
            <a:ext cx="399568" cy="399568"/>
          </a:xfrm>
          <a:custGeom>
            <a:avLst/>
            <a:gdLst/>
            <a:ahLst/>
            <a:cxnLst/>
            <a:rect r="r" b="b" t="t" l="l"/>
            <a:pathLst>
              <a:path h="399568" w="399568">
                <a:moveTo>
                  <a:pt x="0" y="0"/>
                </a:moveTo>
                <a:lnTo>
                  <a:pt x="399568" y="0"/>
                </a:lnTo>
                <a:lnTo>
                  <a:pt x="399568" y="399568"/>
                </a:lnTo>
                <a:lnTo>
                  <a:pt x="0" y="3995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49333" y="350882"/>
            <a:ext cx="7038632" cy="1448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DATA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13785" y="2966580"/>
            <a:ext cx="6441262" cy="202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 DISTINCT u.username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comments c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JOIN photos p ON c.photo_id = p.id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JOIN users u ON c.user_id = u.id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c.user_id = p.user_id;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2185" y="2456202"/>
            <a:ext cx="9678572" cy="46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b="true" sz="2433" spc="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Users Who Commented on Their Own Photos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3785" y="5649839"/>
            <a:ext cx="6442862" cy="46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b="true" sz="2433" spc="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 Top 5 Users with Most Followers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13785" y="6188116"/>
            <a:ext cx="6441262" cy="2807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 u.username, COUNT(f.follower_id) AS total_followers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users u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JOIN follows f ON u.id = f.followee_id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GROUP BY u.id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ORDER BY total_followers DESC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 5;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04133" y="6597882"/>
            <a:ext cx="4553398" cy="2120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# username,             total_followers</a:t>
            </a:r>
          </a:p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'Kenton_Kirlin',                      '77'</a:t>
            </a:r>
          </a:p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'Tierra.Trantow',                    '77'</a:t>
            </a:r>
          </a:p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'Eveline95',                              '77'</a:t>
            </a:r>
          </a:p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'Jaime53',                                '77'</a:t>
            </a:r>
          </a:p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'Kasandra_Homenick',         '77'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31971" y="3099930"/>
            <a:ext cx="3253530" cy="2120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# username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'Andre_Purdy85'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'Harley_Lind18'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'Arely_Bogan63'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'Travon.Waters'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'Tabitha_Schamberger11'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22814" y="-3716063"/>
            <a:ext cx="8549194" cy="8549194"/>
          </a:xfrm>
          <a:custGeom>
            <a:avLst/>
            <a:gdLst/>
            <a:ahLst/>
            <a:cxnLst/>
            <a:rect r="r" b="b" t="t" l="l"/>
            <a:pathLst>
              <a:path h="8549194" w="8549194">
                <a:moveTo>
                  <a:pt x="0" y="0"/>
                </a:moveTo>
                <a:lnTo>
                  <a:pt x="8549194" y="0"/>
                </a:lnTo>
                <a:lnTo>
                  <a:pt x="8549194" y="8549194"/>
                </a:lnTo>
                <a:lnTo>
                  <a:pt x="0" y="8549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22949" y="8925787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37583" y="1599948"/>
            <a:ext cx="399568" cy="399568"/>
          </a:xfrm>
          <a:custGeom>
            <a:avLst/>
            <a:gdLst/>
            <a:ahLst/>
            <a:cxnLst/>
            <a:rect r="r" b="b" t="t" l="l"/>
            <a:pathLst>
              <a:path h="399568" w="399568">
                <a:moveTo>
                  <a:pt x="0" y="0"/>
                </a:moveTo>
                <a:lnTo>
                  <a:pt x="399568" y="0"/>
                </a:lnTo>
                <a:lnTo>
                  <a:pt x="399568" y="399568"/>
                </a:lnTo>
                <a:lnTo>
                  <a:pt x="0" y="3995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49333" y="350882"/>
            <a:ext cx="7038632" cy="1448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DATA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92750" y="2455193"/>
            <a:ext cx="6441262" cy="2807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 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DAYNAME(created_at) AS registration_day,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COUNT(*) AS total_users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users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GROUP BY registration_day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ORDER BY total_users DESC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 5;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3785" y="1985439"/>
            <a:ext cx="10619623" cy="89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b="true" sz="2433" spc="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 What day of the week do most of the users register on</a:t>
            </a:r>
          </a:p>
          <a:p>
            <a:pPr algn="l">
              <a:lnSpc>
                <a:spcPts val="340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013785" y="5649839"/>
            <a:ext cx="11189922" cy="1319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b="true" sz="2433" spc="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6. Identify users (bots) who have liked every single photo on the site, which is an abnormal behaviour </a:t>
            </a:r>
          </a:p>
          <a:p>
            <a:pPr algn="l">
              <a:lnSpc>
                <a:spcPts val="340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192750" y="6626228"/>
            <a:ext cx="6441262" cy="3197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with base as(select u.username as users,count(photo_id) as likes from likes l join users u on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l.user_id = u.id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group by u.username)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 users from base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likes = (select count(*) from photos)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 5;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49561" y="2887637"/>
            <a:ext cx="4429277" cy="2120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# registration_day,       total_users</a:t>
            </a:r>
          </a:p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'Thursday',                      '16'</a:t>
            </a:r>
          </a:p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'Sunday',                         '16'</a:t>
            </a:r>
          </a:p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'Friday',                            '15'</a:t>
            </a:r>
          </a:p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'Tuesday',                        '14'</a:t>
            </a:r>
          </a:p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'Monday',                       '14'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7231266"/>
            <a:ext cx="2611488" cy="2120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# users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'Aniya_Hackett'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'Jaclyn81'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'Rocio33'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'Maxwell.Halvorson'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'Ollie_Ledner37'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22814" y="-3716063"/>
            <a:ext cx="8549194" cy="8549194"/>
          </a:xfrm>
          <a:custGeom>
            <a:avLst/>
            <a:gdLst/>
            <a:ahLst/>
            <a:cxnLst/>
            <a:rect r="r" b="b" t="t" l="l"/>
            <a:pathLst>
              <a:path h="8549194" w="8549194">
                <a:moveTo>
                  <a:pt x="0" y="0"/>
                </a:moveTo>
                <a:lnTo>
                  <a:pt x="8549194" y="0"/>
                </a:lnTo>
                <a:lnTo>
                  <a:pt x="8549194" y="8549194"/>
                </a:lnTo>
                <a:lnTo>
                  <a:pt x="0" y="8549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22949" y="8925787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37583" y="1599948"/>
            <a:ext cx="399568" cy="399568"/>
          </a:xfrm>
          <a:custGeom>
            <a:avLst/>
            <a:gdLst/>
            <a:ahLst/>
            <a:cxnLst/>
            <a:rect r="r" b="b" t="t" l="l"/>
            <a:pathLst>
              <a:path h="399568" w="399568">
                <a:moveTo>
                  <a:pt x="0" y="0"/>
                </a:moveTo>
                <a:lnTo>
                  <a:pt x="399568" y="0"/>
                </a:lnTo>
                <a:lnTo>
                  <a:pt x="399568" y="399568"/>
                </a:lnTo>
                <a:lnTo>
                  <a:pt x="0" y="3995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49333" y="350882"/>
            <a:ext cx="7038632" cy="1448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DATA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02738" y="3201914"/>
            <a:ext cx="6441262" cy="5150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WITH base AS (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SELECT u.id, COUNT(p.id) AS total_post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FROM users u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LEFT JOIN photos p ON p.user_id = u.id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GROUP BY u.id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)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 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SUM(total_post) AS total_photos,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COUNT(id) AS total_users,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ROUND(SUM(total_post) * 1.0 / COUNT(id), 2) AS avg_photos_per_user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base;</a:t>
            </a:r>
          </a:p>
          <a:p>
            <a:pPr algn="l">
              <a:lnSpc>
                <a:spcPts val="313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004260" y="2073097"/>
            <a:ext cx="14209157" cy="1319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b="true" sz="2433" spc="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7. How many times does the average user post on Instagram? Also, provide the total number of photos on Instagram/total number of users </a:t>
            </a:r>
          </a:p>
          <a:p>
            <a:pPr algn="l">
              <a:lnSpc>
                <a:spcPts val="340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561461" y="3621815"/>
            <a:ext cx="2975877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6"/>
              </a:lnSpc>
            </a:pPr>
            <a:r>
              <a:rPr lang="en-US" sz="4138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TOTAL PHOTOS</a:t>
            </a:r>
          </a:p>
          <a:p>
            <a:pPr algn="ctr">
              <a:lnSpc>
                <a:spcPts val="3579"/>
              </a:lnSpc>
            </a:pPr>
            <a:r>
              <a:rPr lang="en-US" sz="29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257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91689" y="5319836"/>
            <a:ext cx="251541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5"/>
              </a:lnSpc>
            </a:pPr>
            <a:r>
              <a:rPr lang="en-US" sz="4238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TOTAL USER</a:t>
            </a:r>
          </a:p>
          <a:p>
            <a:pPr algn="ctr">
              <a:lnSpc>
                <a:spcPts val="3699"/>
              </a:lnSpc>
            </a:pPr>
            <a:r>
              <a:rPr lang="en-US" sz="30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100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85012" y="4188552"/>
            <a:ext cx="4074585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5"/>
              </a:lnSpc>
            </a:pPr>
            <a:r>
              <a:rPr lang="en-US" sz="3837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AVG PHOTO PAR USER</a:t>
            </a:r>
          </a:p>
          <a:p>
            <a:pPr algn="ctr">
              <a:lnSpc>
                <a:spcPts val="3219"/>
              </a:lnSpc>
            </a:pPr>
            <a:r>
              <a:rPr lang="en-US" sz="26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2.57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22814" y="-3716063"/>
            <a:ext cx="8549194" cy="8549194"/>
          </a:xfrm>
          <a:custGeom>
            <a:avLst/>
            <a:gdLst/>
            <a:ahLst/>
            <a:cxnLst/>
            <a:rect r="r" b="b" t="t" l="l"/>
            <a:pathLst>
              <a:path h="8549194" w="8549194">
                <a:moveTo>
                  <a:pt x="0" y="0"/>
                </a:moveTo>
                <a:lnTo>
                  <a:pt x="8549194" y="0"/>
                </a:lnTo>
                <a:lnTo>
                  <a:pt x="8549194" y="8549194"/>
                </a:lnTo>
                <a:lnTo>
                  <a:pt x="0" y="8549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22949" y="8925787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37583" y="1599948"/>
            <a:ext cx="399568" cy="399568"/>
          </a:xfrm>
          <a:custGeom>
            <a:avLst/>
            <a:gdLst/>
            <a:ahLst/>
            <a:cxnLst/>
            <a:rect r="r" b="b" t="t" l="l"/>
            <a:pathLst>
              <a:path h="399568" w="399568">
                <a:moveTo>
                  <a:pt x="0" y="0"/>
                </a:moveTo>
                <a:lnTo>
                  <a:pt x="399568" y="0"/>
                </a:lnTo>
                <a:lnTo>
                  <a:pt x="399568" y="399568"/>
                </a:lnTo>
                <a:lnTo>
                  <a:pt x="0" y="3995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49333" y="350882"/>
            <a:ext cx="7038632" cy="1448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DATA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26376" y="2930185"/>
            <a:ext cx="6441262" cy="241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 DISTINCT t.tag_name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tags t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JOIN photo_tags pt ON t.id = pt.tag_id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JOIN photos p ON pt.photo_id = p.id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JOIN users u ON p.user_id = u.id</a:t>
            </a:r>
          </a:p>
          <a:p>
            <a:pPr algn="l">
              <a:lnSpc>
                <a:spcPts val="3134"/>
              </a:lnSpc>
            </a:pPr>
            <a:r>
              <a:rPr lang="en-US" sz="1843" b="true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u.username = 'Harley_Lind18';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9943" y="2317413"/>
            <a:ext cx="14209157" cy="46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b="true" sz="2433" spc="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8. List All Tags Used by a Specific User (e.g., 'Harley_Lind18')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3063535"/>
            <a:ext cx="1849936" cy="2825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# tag_name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'photography'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'lol'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'happy'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'smile'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'landscape'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'fun'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'drunk'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68779" y="4185428"/>
            <a:ext cx="335475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4"/>
              </a:lnSpc>
            </a:pPr>
            <a:r>
              <a:rPr lang="en-US" sz="4395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HARLEY_LIND18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22949" y="8925787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57611" y="-1286368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3479" y="690861"/>
            <a:ext cx="1191540" cy="1191540"/>
          </a:xfrm>
          <a:custGeom>
            <a:avLst/>
            <a:gdLst/>
            <a:ahLst/>
            <a:cxnLst/>
            <a:rect r="r" b="b" t="t" l="l"/>
            <a:pathLst>
              <a:path h="1191540" w="1191540">
                <a:moveTo>
                  <a:pt x="0" y="0"/>
                </a:moveTo>
                <a:lnTo>
                  <a:pt x="1191540" y="0"/>
                </a:lnTo>
                <a:lnTo>
                  <a:pt x="1191540" y="1191540"/>
                </a:lnTo>
                <a:lnTo>
                  <a:pt x="0" y="11915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4263" y="1135856"/>
            <a:ext cx="997371" cy="997371"/>
          </a:xfrm>
          <a:custGeom>
            <a:avLst/>
            <a:gdLst/>
            <a:ahLst/>
            <a:cxnLst/>
            <a:rect r="r" b="b" t="t" l="l"/>
            <a:pathLst>
              <a:path h="997371" w="997371">
                <a:moveTo>
                  <a:pt x="0" y="0"/>
                </a:moveTo>
                <a:lnTo>
                  <a:pt x="997371" y="0"/>
                </a:lnTo>
                <a:lnTo>
                  <a:pt x="997371" y="997371"/>
                </a:lnTo>
                <a:lnTo>
                  <a:pt x="0" y="997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35428" y="2114179"/>
            <a:ext cx="6111621" cy="144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61412" y="3624948"/>
            <a:ext cx="10204590" cy="513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2689" indent="-200896" lvl="2">
              <a:lnSpc>
                <a:spcPts val="4482"/>
              </a:lnSpc>
              <a:buFont typeface="Arial"/>
              <a:buChar char="⚬"/>
            </a:pPr>
            <a:r>
              <a:rPr lang="en-US" sz="2635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Social media platforms generate vast amounts of user interaction data.</a:t>
            </a:r>
          </a:p>
          <a:p>
            <a:pPr algn="l" marL="602689" indent="-200896" lvl="2">
              <a:lnSpc>
                <a:spcPts val="4482"/>
              </a:lnSpc>
              <a:buFont typeface="Arial"/>
              <a:buChar char="⚬"/>
            </a:pPr>
            <a:r>
              <a:rPr lang="en-US" sz="2635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This analysis helped us understand user behavior, engagement trends, and content performance.</a:t>
            </a:r>
          </a:p>
          <a:p>
            <a:pPr algn="l" marL="602689" indent="-200896" lvl="2">
              <a:lnSpc>
                <a:spcPts val="4482"/>
              </a:lnSpc>
              <a:buFont typeface="Arial"/>
              <a:buChar char="⚬"/>
            </a:pPr>
            <a:r>
              <a:rPr lang="en-US" sz="2635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The schema and queries allowed insights into:</a:t>
            </a:r>
          </a:p>
          <a:p>
            <a:pPr algn="l" marL="1077116" indent="-269279" lvl="3">
              <a:lnSpc>
                <a:spcPts val="4482"/>
              </a:lnSpc>
              <a:buFont typeface="Arial"/>
              <a:buChar char="￭"/>
            </a:pPr>
            <a:r>
              <a:rPr lang="en-US" sz="2635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Most active users and popular content</a:t>
            </a:r>
          </a:p>
          <a:p>
            <a:pPr algn="l" marL="1077116" indent="-269279" lvl="3">
              <a:lnSpc>
                <a:spcPts val="4482"/>
              </a:lnSpc>
              <a:buFont typeface="Arial"/>
              <a:buChar char="￭"/>
            </a:pPr>
            <a:r>
              <a:rPr lang="en-US" sz="2635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High-performing tags (e.g., #sunset, #fun)</a:t>
            </a:r>
          </a:p>
          <a:p>
            <a:pPr algn="l" marL="1077116" indent="-269279" lvl="3">
              <a:lnSpc>
                <a:spcPts val="4482"/>
              </a:lnSpc>
              <a:buFont typeface="Arial"/>
              <a:buChar char="￭"/>
            </a:pPr>
            <a:r>
              <a:rPr lang="en-US" sz="2635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Social dynamics (likes, follows, comments)</a:t>
            </a:r>
          </a:p>
          <a:p>
            <a:pPr algn="l" marL="1077116" indent="-269279" lvl="3">
              <a:lnSpc>
                <a:spcPts val="4482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0" y="3872598"/>
            <a:ext cx="7882195" cy="4512554"/>
            <a:chOff x="0" y="0"/>
            <a:chExt cx="10509593" cy="60167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09631" cy="6016752"/>
            </a:xfrm>
            <a:custGeom>
              <a:avLst/>
              <a:gdLst/>
              <a:ahLst/>
              <a:cxnLst/>
              <a:rect r="r" b="b" t="t" l="l"/>
              <a:pathLst>
                <a:path h="6016752" w="10509631">
                  <a:moveTo>
                    <a:pt x="0" y="0"/>
                  </a:moveTo>
                  <a:lnTo>
                    <a:pt x="10509631" y="0"/>
                  </a:lnTo>
                  <a:lnTo>
                    <a:pt x="10509631" y="6016752"/>
                  </a:lnTo>
                  <a:lnTo>
                    <a:pt x="0" y="6016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0" t="0" r="-3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22949" y="8925787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57611" y="-1286368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3479" y="690861"/>
            <a:ext cx="1191540" cy="1191540"/>
          </a:xfrm>
          <a:custGeom>
            <a:avLst/>
            <a:gdLst/>
            <a:ahLst/>
            <a:cxnLst/>
            <a:rect r="r" b="b" t="t" l="l"/>
            <a:pathLst>
              <a:path h="1191540" w="1191540">
                <a:moveTo>
                  <a:pt x="0" y="0"/>
                </a:moveTo>
                <a:lnTo>
                  <a:pt x="1191540" y="0"/>
                </a:lnTo>
                <a:lnTo>
                  <a:pt x="1191540" y="1191540"/>
                </a:lnTo>
                <a:lnTo>
                  <a:pt x="0" y="11915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4263" y="1135856"/>
            <a:ext cx="997371" cy="997371"/>
          </a:xfrm>
          <a:custGeom>
            <a:avLst/>
            <a:gdLst/>
            <a:ahLst/>
            <a:cxnLst/>
            <a:rect r="r" b="b" t="t" l="l"/>
            <a:pathLst>
              <a:path h="997371" w="997371">
                <a:moveTo>
                  <a:pt x="0" y="0"/>
                </a:moveTo>
                <a:lnTo>
                  <a:pt x="997371" y="0"/>
                </a:lnTo>
                <a:lnTo>
                  <a:pt x="997371" y="997371"/>
                </a:lnTo>
                <a:lnTo>
                  <a:pt x="0" y="997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10485" y="433549"/>
            <a:ext cx="11323872" cy="287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BUSINESS RECOMMENDATIONS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25757" y="3426181"/>
            <a:ext cx="13150977" cy="513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2689" indent="-200896" lvl="2">
              <a:lnSpc>
                <a:spcPts val="4482"/>
              </a:lnSpc>
              <a:buFont typeface="Arial"/>
              <a:buChar char="⚬"/>
            </a:pPr>
            <a:r>
              <a:rPr lang="en-US" b="true" sz="2635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Boost High Engagement Content</a:t>
            </a:r>
          </a:p>
          <a:p>
            <a:pPr algn="l" marL="602689" indent="-200896" lvl="2">
              <a:lnSpc>
                <a:spcPts val="4482"/>
              </a:lnSpc>
            </a:pPr>
            <a:r>
              <a:rPr lang="en-US" sz="2635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Promote posts with high likes/tags — e.g., those with #happy, #fashion.</a:t>
            </a:r>
          </a:p>
          <a:p>
            <a:pPr algn="l" marL="602689" indent="-200896" lvl="2">
              <a:lnSpc>
                <a:spcPts val="4482"/>
              </a:lnSpc>
              <a:buFont typeface="Arial"/>
              <a:buChar char="⚬"/>
            </a:pPr>
            <a:r>
              <a:rPr lang="en-US" b="true" sz="2635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User-Centric Campaigns</a:t>
            </a:r>
          </a:p>
          <a:p>
            <a:pPr algn="l" marL="602689" indent="-200896" lvl="2">
              <a:lnSpc>
                <a:spcPts val="4482"/>
              </a:lnSpc>
            </a:pPr>
            <a:r>
              <a:rPr lang="en-US" sz="2635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Target users with high follow or post activity for promotions or early feature access.</a:t>
            </a:r>
          </a:p>
          <a:p>
            <a:pPr algn="l" marL="602689" indent="-200896" lvl="2">
              <a:lnSpc>
                <a:spcPts val="4482"/>
              </a:lnSpc>
              <a:buFont typeface="Arial"/>
              <a:buChar char="⚬"/>
            </a:pPr>
            <a:r>
              <a:rPr lang="en-US" b="true" sz="2635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Leverage Hashtag Trends</a:t>
            </a:r>
          </a:p>
          <a:p>
            <a:pPr algn="l" marL="602689" indent="-200896" lvl="2">
              <a:lnSpc>
                <a:spcPts val="4482"/>
              </a:lnSpc>
            </a:pPr>
            <a:r>
              <a:rPr lang="en-US" sz="2635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Analyse top-used tags to guide marketing and influencer partnerships.</a:t>
            </a:r>
          </a:p>
          <a:p>
            <a:pPr algn="l" marL="602689" indent="-200896" lvl="2">
              <a:lnSpc>
                <a:spcPts val="4482"/>
              </a:lnSpc>
              <a:buFont typeface="Arial"/>
              <a:buChar char="⚬"/>
            </a:pPr>
            <a:r>
              <a:rPr lang="en-US" b="true" sz="2635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Personalized Ads &amp; Recommendations</a:t>
            </a:r>
          </a:p>
          <a:p>
            <a:pPr algn="l" marL="602689" indent="-200896" lvl="2">
              <a:lnSpc>
                <a:spcPts val="4482"/>
              </a:lnSpc>
            </a:pPr>
            <a:r>
              <a:rPr lang="en-US" sz="2635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Use user interests (from likes/tags/comments) for better ad targeting.</a:t>
            </a:r>
          </a:p>
          <a:p>
            <a:pPr algn="l" marL="602689" indent="-200896" lvl="2">
              <a:lnSpc>
                <a:spcPts val="4482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338" r="0" b="-9338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357611" y="-1286368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85864" y="3538242"/>
            <a:ext cx="14516271" cy="391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65"/>
              </a:lnSpc>
            </a:pPr>
            <a:r>
              <a:rPr lang="en-US" sz="25720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50077" y="7289959"/>
            <a:ext cx="7680227" cy="519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7"/>
              </a:lnSpc>
            </a:pPr>
            <a:r>
              <a:rPr lang="en-US" b="true" sz="2797" spc="17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Give your feedback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43479" y="690861"/>
            <a:ext cx="1191540" cy="1191540"/>
          </a:xfrm>
          <a:custGeom>
            <a:avLst/>
            <a:gdLst/>
            <a:ahLst/>
            <a:cxnLst/>
            <a:rect r="r" b="b" t="t" l="l"/>
            <a:pathLst>
              <a:path h="1191540" w="1191540">
                <a:moveTo>
                  <a:pt x="0" y="0"/>
                </a:moveTo>
                <a:lnTo>
                  <a:pt x="1191540" y="0"/>
                </a:lnTo>
                <a:lnTo>
                  <a:pt x="1191540" y="1191540"/>
                </a:lnTo>
                <a:lnTo>
                  <a:pt x="0" y="11915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41813" y="8802151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241813" y="8440825"/>
            <a:ext cx="1191540" cy="1191540"/>
          </a:xfrm>
          <a:custGeom>
            <a:avLst/>
            <a:gdLst/>
            <a:ahLst/>
            <a:cxnLst/>
            <a:rect r="r" b="b" t="t" l="l"/>
            <a:pathLst>
              <a:path h="1191540" w="1191540">
                <a:moveTo>
                  <a:pt x="0" y="0"/>
                </a:moveTo>
                <a:lnTo>
                  <a:pt x="1191540" y="0"/>
                </a:lnTo>
                <a:lnTo>
                  <a:pt x="1191540" y="1191540"/>
                </a:lnTo>
                <a:lnTo>
                  <a:pt x="0" y="11915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8916" y="9058516"/>
            <a:ext cx="399568" cy="399568"/>
          </a:xfrm>
          <a:custGeom>
            <a:avLst/>
            <a:gdLst/>
            <a:ahLst/>
            <a:cxnLst/>
            <a:rect r="r" b="b" t="t" l="l"/>
            <a:pathLst>
              <a:path h="399568" w="399568">
                <a:moveTo>
                  <a:pt x="0" y="0"/>
                </a:moveTo>
                <a:lnTo>
                  <a:pt x="399568" y="0"/>
                </a:lnTo>
                <a:lnTo>
                  <a:pt x="399568" y="399568"/>
                </a:lnTo>
                <a:lnTo>
                  <a:pt x="0" y="3995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02137" y="1525959"/>
            <a:ext cx="712885" cy="712885"/>
          </a:xfrm>
          <a:custGeom>
            <a:avLst/>
            <a:gdLst/>
            <a:ahLst/>
            <a:cxnLst/>
            <a:rect r="r" b="b" t="t" l="l"/>
            <a:pathLst>
              <a:path h="712885" w="712885">
                <a:moveTo>
                  <a:pt x="0" y="0"/>
                </a:moveTo>
                <a:lnTo>
                  <a:pt x="712885" y="0"/>
                </a:lnTo>
                <a:lnTo>
                  <a:pt x="712885" y="712885"/>
                </a:lnTo>
                <a:lnTo>
                  <a:pt x="0" y="7128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175205" y="2609822"/>
            <a:ext cx="3438827" cy="823642"/>
          </a:xfrm>
          <a:custGeom>
            <a:avLst/>
            <a:gdLst/>
            <a:ahLst/>
            <a:cxnLst/>
            <a:rect r="r" b="b" t="t" l="l"/>
            <a:pathLst>
              <a:path h="823642" w="3438827">
                <a:moveTo>
                  <a:pt x="0" y="0"/>
                </a:moveTo>
                <a:lnTo>
                  <a:pt x="3438827" y="0"/>
                </a:lnTo>
                <a:lnTo>
                  <a:pt x="3438827" y="823642"/>
                </a:lnTo>
                <a:lnTo>
                  <a:pt x="0" y="8236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DAG8kvTxz6I</dc:identifier>
  <dcterms:modified xsi:type="dcterms:W3CDTF">2011-08-01T06:04:30Z</dcterms:modified>
  <cp:revision>1</cp:revision>
  <dc:title>social-media-analysis-ppt(SQL)</dc:title>
</cp:coreProperties>
</file>